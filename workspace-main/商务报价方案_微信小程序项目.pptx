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微信小程序项目 · 商务合作报价方案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A0D9"/>
                </a:solidFill>
              </a:defRPr>
            </a:pPr>
            <a:r>
              <a:t>基于项目投资测算报告 | 分阶段共建 · 灵活合作 · 共赢发展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3A5C"/>
                </a:solidFill>
              </a:defRPr>
            </a:pPr>
            <a:r>
              <a:t>📊 项目成本概要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2D343E"/>
                </a:solidFill>
              </a:rPr>
              <a:t>研发总投入：</a:t>
            </a:r>
            <a:r>
              <a:rPr sz="950">
                <a:solidFill>
                  <a:srgbClr val="2C5F8A"/>
                </a:solidFill>
              </a:rPr>
              <a:t>≈ 147 万元（分 2 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280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2D343E"/>
                </a:solidFill>
              </a:rPr>
              <a:t>首年投入：</a:t>
            </a:r>
            <a:r>
              <a:rPr sz="950">
                <a:solidFill>
                  <a:srgbClr val="2C5F8A"/>
                </a:solidFill>
              </a:rPr>
              <a:t>≈ 64~66 万（一期研发 + 首年运营）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85416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2D343E"/>
                </a:solidFill>
              </a:rPr>
              <a:t>年度运营成本：</a:t>
            </a:r>
            <a:r>
              <a:rPr sz="950">
                <a:solidFill>
                  <a:srgbClr val="2C5F8A"/>
                </a:solidFill>
              </a:rPr>
              <a:t>≈ 4.7~6.5 万元/年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234440"/>
            <a:ext cx="3291840" cy="137160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28016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3A5C"/>
                </a:solidFill>
              </a:defRPr>
            </a:pPr>
            <a:r>
              <a:t>💰 运营费用建议处理方式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00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C5F8A"/>
                </a:solidFill>
              </a:defRPr>
            </a:pPr>
            <a:r>
              <a:t>方案一：客户自行承担运营费</a:t>
            </a:r>
          </a:p>
          <a:p>
            <a:pPr>
              <a:spcAft>
                <a:spcPts val="200"/>
              </a:spcAft>
              <a:defRPr sz="950">
                <a:solidFill>
                  <a:srgbClr val="2D343E"/>
                </a:solidFill>
              </a:defRPr>
            </a:pPr>
            <a:r>
              <a:t>    年度约 4.7~6.5 万元</a:t>
            </a:r>
          </a:p>
          <a:p>
            <a:pPr>
              <a:spcAft>
                <a:spcPts val="200"/>
              </a:spcAft>
              <a:defRPr sz="950" b="1">
                <a:solidFill>
                  <a:srgbClr val="2C5F8A"/>
                </a:solidFill>
              </a:defRPr>
            </a:pPr>
            <a:r>
              <a:t>方案二：折算为等值培训分成</a:t>
            </a:r>
          </a:p>
          <a:p>
            <a:pPr>
              <a:spcAft>
                <a:spcPts val="200"/>
              </a:spcAft>
              <a:defRPr sz="950">
                <a:solidFill>
                  <a:srgbClr val="2D343E"/>
                </a:solidFill>
              </a:defRPr>
            </a:pPr>
            <a:r>
              <a:t>    约 5~7 次培训分成抵扣全年运营费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1828800" cy="384048"/>
          </a:xfrm>
          <a:prstGeom prst="rect">
            <a:avLst/>
          </a:prstGeom>
          <a:solidFill>
            <a:srgbClr val="2C5F8A"/>
          </a:solidFill>
          <a:ln w="63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方案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743200"/>
            <a:ext cx="1463040" cy="384048"/>
          </a:xfrm>
          <a:prstGeom prst="rect">
            <a:avLst/>
          </a:prstGeom>
          <a:solidFill>
            <a:srgbClr val="2C5F8A"/>
          </a:solidFill>
          <a:ln w="63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建设费用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40" y="2743200"/>
            <a:ext cx="1463040" cy="384048"/>
          </a:xfrm>
          <a:prstGeom prst="rect">
            <a:avLst/>
          </a:prstGeom>
          <a:solidFill>
            <a:srgbClr val="2C5F8A"/>
          </a:solidFill>
          <a:ln w="63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培训分成比例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43200"/>
            <a:ext cx="1371600" cy="384048"/>
          </a:xfrm>
          <a:prstGeom prst="rect">
            <a:avLst/>
          </a:prstGeom>
          <a:solidFill>
            <a:srgbClr val="2C5F8A"/>
          </a:solidFill>
          <a:ln w="63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单次分成金额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743200"/>
            <a:ext cx="1188720" cy="384048"/>
          </a:xfrm>
          <a:prstGeom prst="rect">
            <a:avLst/>
          </a:prstGeom>
          <a:solidFill>
            <a:srgbClr val="2C5F8A"/>
          </a:solidFill>
          <a:ln w="63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培训次数上限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2743200"/>
            <a:ext cx="1005840" cy="384048"/>
          </a:xfrm>
          <a:prstGeom prst="rect">
            <a:avLst/>
          </a:prstGeom>
          <a:solidFill>
            <a:srgbClr val="2C5F8A"/>
          </a:solidFill>
          <a:ln w="63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合作期限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2743200"/>
            <a:ext cx="1554480" cy="384048"/>
          </a:xfrm>
          <a:prstGeom prst="rect">
            <a:avLst/>
          </a:prstGeom>
          <a:solidFill>
            <a:srgbClr val="2C5F8A"/>
          </a:solidFill>
          <a:ln w="63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预计总金额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27248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27AE60"/>
                </a:solidFill>
              </a:defRPr>
            </a:pPr>
            <a:r>
              <a:t>A · 快速回款方案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3127248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>
                <a:solidFill>
                  <a:srgbClr val="2D343E"/>
                </a:solidFill>
              </a:defRPr>
            </a:pPr>
            <a:r>
              <a:t>35 万元（全额）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0" y="3127248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>
                <a:solidFill>
                  <a:srgbClr val="2D343E"/>
                </a:solidFill>
              </a:defRPr>
            </a:pPr>
            <a:r>
              <a:t>4%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3127248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>
                <a:solidFill>
                  <a:srgbClr val="2D343E"/>
                </a:solidFill>
              </a:defRPr>
            </a:pPr>
            <a:r>
              <a:t>≈ 6,000 元/次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3127248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>
                <a:solidFill>
                  <a:srgbClr val="2D343E"/>
                </a:solidFill>
              </a:defRPr>
            </a:pPr>
            <a:r>
              <a:t>≤ 100 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3127248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>
                <a:solidFill>
                  <a:srgbClr val="2D343E"/>
                </a:solidFill>
              </a:defRPr>
            </a:pPr>
            <a:r>
              <a:t>2 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0" y="3127248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27AE60"/>
                </a:solidFill>
              </a:defRPr>
            </a:pPr>
            <a:r>
              <a:t>≈ 95 万元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511296"/>
            <a:ext cx="182880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E67E22"/>
                </a:solidFill>
              </a:defRPr>
            </a:pPr>
            <a:r>
              <a:t>B · 零首付高分成方案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3511296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>
                <a:solidFill>
                  <a:srgbClr val="2D343E"/>
                </a:solidFill>
              </a:defRPr>
            </a:pPr>
            <a:r>
              <a:t>0 元（免费建设）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40" y="3511296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>
                <a:solidFill>
                  <a:srgbClr val="2D343E"/>
                </a:solidFill>
              </a:defRPr>
            </a:pPr>
            <a:r>
              <a:t>10%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3511296"/>
            <a:ext cx="137160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>
                <a:solidFill>
                  <a:srgbClr val="2D343E"/>
                </a:solidFill>
              </a:defRPr>
            </a:pPr>
            <a:r>
              <a:t>≈ 15,000 元/次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3511296"/>
            <a:ext cx="11887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>
                <a:solidFill>
                  <a:srgbClr val="2D343E"/>
                </a:solidFill>
              </a:defRPr>
            </a:pPr>
            <a:r>
              <a:t>≤ 80 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3511296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>
                <a:solidFill>
                  <a:srgbClr val="2D343E"/>
                </a:solidFill>
              </a:defRPr>
            </a:pPr>
            <a:r>
              <a:t>2 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8240" y="3511296"/>
            <a:ext cx="15544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E67E22"/>
                </a:solidFill>
              </a:defRPr>
            </a:pPr>
            <a:r>
              <a:t>≈ 120 万元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895344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5BA0D9"/>
                </a:solidFill>
              </a:defRPr>
            </a:pPr>
            <a:r>
              <a:t>C · 均衡推荐方案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3895344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>
                <a:solidFill>
                  <a:srgbClr val="2D343E"/>
                </a:solidFill>
              </a:defRPr>
            </a:pPr>
            <a:r>
              <a:t>20 万元（≈60%）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9040" y="3895344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>
                <a:solidFill>
                  <a:srgbClr val="2D343E"/>
                </a:solidFill>
              </a:defRPr>
            </a:pPr>
            <a:r>
              <a:t>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12080" y="3895344"/>
            <a:ext cx="1371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>
                <a:solidFill>
                  <a:srgbClr val="2D343E"/>
                </a:solidFill>
              </a:defRPr>
            </a:pPr>
            <a:r>
              <a:t>≈ 9,000 元/次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3895344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>
                <a:solidFill>
                  <a:srgbClr val="2D343E"/>
                </a:solidFill>
              </a:defRPr>
            </a:pPr>
            <a:r>
              <a:t>≤ 90 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3895344"/>
            <a:ext cx="1005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>
                <a:solidFill>
                  <a:srgbClr val="2D343E"/>
                </a:solidFill>
              </a:defRPr>
            </a:pPr>
            <a:r>
              <a:t>2 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8240" y="3895344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000" b="1">
                <a:solidFill>
                  <a:srgbClr val="5BA0D9"/>
                </a:solidFill>
              </a:defRPr>
            </a:pPr>
            <a:r>
              <a:t>≈ 101 万元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3891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7AE60"/>
                </a:solidFill>
              </a:defRPr>
            </a:pPr>
            <a:r>
              <a:t>A 特点：建设成本全额回收，后续分成负担最轻，适合资金充裕的客户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79" y="43891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67E22"/>
                </a:solidFill>
              </a:defRPr>
            </a:pPr>
            <a:r>
              <a:t>B 特点：零首付启动，客户压力最小，我方通过高分成实现总收益最大化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18" y="43891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BA0D9"/>
                </a:solidFill>
              </a:defRPr>
            </a:pPr>
            <a:r>
              <a:t>C 特点：★★★★★ 首付适中 + 分成合理，综合收益与客户接受度最佳平衡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5BA0D9"/>
                </a:solidFill>
              </a:defRPr>
            </a:pPr>
            <a:r>
              <a:t>说明：以上报价基于项目投资测算报告（研发 147 万 + 年度运营 4.7~6.5 万）。运营费用独立核算，建议客户承担或折算为培训分成。具体条款以正式合同为准。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1024128"/>
            <a:ext cx="12191695" cy="36576"/>
          </a:xfrm>
          <a:prstGeom prst="rect">
            <a:avLst/>
          </a:prstGeom>
          <a:solidFill>
            <a:srgbClr val="5BA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